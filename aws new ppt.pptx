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1" r:id="rId1"/>
  </p:sldMasterIdLst>
  <p:sldIdLst>
    <p:sldId id="256" r:id="rId2"/>
    <p:sldId id="263" r:id="rId3"/>
    <p:sldId id="264" r:id="rId4"/>
    <p:sldId id="260" r:id="rId5"/>
    <p:sldId id="259" r:id="rId6"/>
    <p:sldId id="261" r:id="rId7"/>
    <p:sldId id="270" r:id="rId8"/>
    <p:sldId id="262"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09BDCE-D802-449A-8A66-58B324F37DA1}" v="1" dt="2026-05-28T11:50:35.7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61" d="100"/>
          <a:sy n="61" d="100"/>
        </p:scale>
        <p:origin x="8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redla Bhuvan Kumar" userId="5fa10620b25825cd" providerId="LiveId" clId="{6498E71E-8154-43C9-B3C8-717E9B670B37}"/>
    <pc:docChg chg="modSld">
      <pc:chgData name="Doredla Bhuvan Kumar" userId="5fa10620b25825cd" providerId="LiveId" clId="{6498E71E-8154-43C9-B3C8-717E9B670B37}" dt="2026-05-28T11:50:48.754" v="1" actId="2711"/>
      <pc:docMkLst>
        <pc:docMk/>
      </pc:docMkLst>
      <pc:sldChg chg="modSp mod">
        <pc:chgData name="Doredla Bhuvan Kumar" userId="5fa10620b25825cd" providerId="LiveId" clId="{6498E71E-8154-43C9-B3C8-717E9B670B37}" dt="2026-05-28T11:50:48.754" v="1" actId="2711"/>
        <pc:sldMkLst>
          <pc:docMk/>
          <pc:sldMk cId="1317099130" sldId="256"/>
        </pc:sldMkLst>
        <pc:spChg chg="mod">
          <ac:chgData name="Doredla Bhuvan Kumar" userId="5fa10620b25825cd" providerId="LiveId" clId="{6498E71E-8154-43C9-B3C8-717E9B670B37}" dt="2026-05-28T11:50:48.754" v="1" actId="2711"/>
          <ac:spMkLst>
            <pc:docMk/>
            <pc:sldMk cId="1317099130" sldId="256"/>
            <ac:spMk id="2" creationId="{2F87241F-2307-F62F-E217-14DC56A11527}"/>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CDC6D1E0-27BB-45A3-9B8F-1CF19B352CEE}" type="datetimeFigureOut">
              <a:rPr lang="en-IN" smtClean="0"/>
              <a:t>28-05-2026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130874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C6D1E0-27BB-45A3-9B8F-1CF19B352CEE}"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94349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CDC6D1E0-27BB-45A3-9B8F-1CF19B352CEE}" type="datetimeFigureOut">
              <a:rPr lang="en-IN" smtClean="0"/>
              <a:t>28-05-2026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414624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4044869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C6D1E0-27BB-45A3-9B8F-1CF19B352CEE}" type="datetimeFigureOut">
              <a:rPr lang="en-IN" smtClean="0"/>
              <a:t>28-05-2026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2618631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C6D1E0-27BB-45A3-9B8F-1CF19B352CEE}"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231415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C6D1E0-27BB-45A3-9B8F-1CF19B352CEE}" type="datetimeFigureOut">
              <a:rPr lang="en-IN" smtClean="0"/>
              <a:t>28-05-2026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411755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3624080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358037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61486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734224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A2CA6EE-2D5A-460C-A429-93A47B426617}"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69732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CDC6D1E0-27BB-45A3-9B8F-1CF19B352CEE}" type="datetimeFigureOut">
              <a:rPr lang="en-IN" smtClean="0"/>
              <a:t>28-05-2026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821925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C6D1E0-27BB-45A3-9B8F-1CF19B352CEE}"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554377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C6D1E0-27BB-45A3-9B8F-1CF19B352CEE}" type="datetimeFigureOut">
              <a:rPr lang="en-IN" smtClean="0"/>
              <a:t>28-05-2026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588769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C6D1E0-27BB-45A3-9B8F-1CF19B352CEE}" type="datetimeFigureOut">
              <a:rPr lang="en-IN" smtClean="0"/>
              <a:t>28-05-2026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70463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CDC6D1E0-27BB-45A3-9B8F-1CF19B352CEE}" type="datetimeFigureOut">
              <a:rPr lang="en-IN" smtClean="0"/>
              <a:t>28-05-2026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3A2CA6EE-2D5A-460C-A429-93A47B426617}" type="slidenum">
              <a:rPr lang="en-IN" smtClean="0"/>
              <a:t>‹#›</a:t>
            </a:fld>
            <a:endParaRPr lang="en-IN"/>
          </a:p>
        </p:txBody>
      </p:sp>
    </p:spTree>
    <p:extLst>
      <p:ext uri="{BB962C8B-B14F-4D97-AF65-F5344CB8AC3E}">
        <p14:creationId xmlns:p14="http://schemas.microsoft.com/office/powerpoint/2010/main" val="1456589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DC6D1E0-27BB-45A3-9B8F-1CF19B352CEE}" type="datetimeFigureOut">
              <a:rPr lang="en-IN" smtClean="0"/>
              <a:t>28-05-2026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2CA6EE-2D5A-460C-A429-93A47B426617}" type="slidenum">
              <a:rPr lang="en-IN" smtClean="0"/>
              <a:t>‹#›</a:t>
            </a:fld>
            <a:endParaRPr lang="en-IN"/>
          </a:p>
        </p:txBody>
      </p:sp>
    </p:spTree>
    <p:extLst>
      <p:ext uri="{BB962C8B-B14F-4D97-AF65-F5344CB8AC3E}">
        <p14:creationId xmlns:p14="http://schemas.microsoft.com/office/powerpoint/2010/main" val="445830913"/>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3" r:id="rId12"/>
    <p:sldLayoutId id="2147483984" r:id="rId13"/>
    <p:sldLayoutId id="2147483985" r:id="rId14"/>
    <p:sldLayoutId id="2147483986" r:id="rId15"/>
    <p:sldLayoutId id="2147483987" r:id="rId16"/>
    <p:sldLayoutId id="2147483988"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7241F-2307-F62F-E217-14DC56A11527}"/>
              </a:ext>
            </a:extLst>
          </p:cNvPr>
          <p:cNvSpPr>
            <a:spLocks noGrp="1"/>
          </p:cNvSpPr>
          <p:nvPr>
            <p:ph type="ctrTitle"/>
          </p:nvPr>
        </p:nvSpPr>
        <p:spPr>
          <a:xfrm>
            <a:off x="757084" y="201562"/>
            <a:ext cx="10677832" cy="1332270"/>
          </a:xfrm>
        </p:spPr>
        <p:txBody>
          <a:bodyPr>
            <a:noAutofit/>
          </a:bodyPr>
          <a:lstStyle/>
          <a:p>
            <a:pPr algn="ctr"/>
            <a:r>
              <a:rPr lang="en-IN" sz="2800" b="1" cap="none" dirty="0">
                <a:latin typeface="Times New Roman" panose="02020603050405020304" pitchFamily="18" charset="0"/>
                <a:cs typeface="Times New Roman" panose="02020603050405020304" pitchFamily="18" charset="0"/>
              </a:rPr>
              <a:t>Mass Data Processing And Analysis Using Data Brew And Data Glew</a:t>
            </a:r>
          </a:p>
        </p:txBody>
      </p:sp>
      <p:sp>
        <p:nvSpPr>
          <p:cNvPr id="3" name="Subtitle 2">
            <a:extLst>
              <a:ext uri="{FF2B5EF4-FFF2-40B4-BE49-F238E27FC236}">
                <a16:creationId xmlns:a16="http://schemas.microsoft.com/office/drawing/2014/main" id="{A14064F8-8E89-1736-8F4F-2DA89DE9632D}"/>
              </a:ext>
            </a:extLst>
          </p:cNvPr>
          <p:cNvSpPr>
            <a:spLocks noGrp="1"/>
          </p:cNvSpPr>
          <p:nvPr>
            <p:ph type="subTitle" idx="1"/>
          </p:nvPr>
        </p:nvSpPr>
        <p:spPr>
          <a:xfrm flipH="1">
            <a:off x="8436077" y="2674375"/>
            <a:ext cx="3755922" cy="2104102"/>
          </a:xfrm>
        </p:spPr>
        <p:txBody>
          <a:bodyPr>
            <a:normAutofit/>
          </a:bodyPr>
          <a:lstStyle/>
          <a:p>
            <a:r>
              <a:rPr lang="en-IN" sz="1600" b="1" dirty="0"/>
              <a:t>SUBMITTED BY</a:t>
            </a:r>
          </a:p>
          <a:p>
            <a:r>
              <a:rPr lang="en-IN" sz="1600" b="1" dirty="0"/>
              <a:t>22NE1A0429-Doredla Bhuvan kumar</a:t>
            </a:r>
          </a:p>
          <a:p>
            <a:r>
              <a:rPr lang="en-IN" sz="1600" b="1" dirty="0"/>
              <a:t>22NE1A0418-Boddu Divya </a:t>
            </a:r>
          </a:p>
          <a:p>
            <a:r>
              <a:rPr lang="en-IN" sz="1600" b="1" dirty="0"/>
              <a:t>22NE1A0421-Bora Gangothri </a:t>
            </a:r>
          </a:p>
          <a:p>
            <a:r>
              <a:rPr lang="en-IN" sz="1600" b="1" dirty="0"/>
              <a:t>22NE1A0433-Shaik Karishma  NAZMOON</a:t>
            </a:r>
          </a:p>
        </p:txBody>
      </p:sp>
      <p:pic>
        <p:nvPicPr>
          <p:cNvPr id="4" name="Image 2">
            <a:extLst>
              <a:ext uri="{FF2B5EF4-FFF2-40B4-BE49-F238E27FC236}">
                <a16:creationId xmlns:a16="http://schemas.microsoft.com/office/drawing/2014/main" id="{4FBE6565-F9E6-5827-0CF0-6B234BAA9D7D}"/>
              </a:ext>
            </a:extLst>
          </p:cNvPr>
          <p:cNvPicPr>
            <a:picLocks/>
          </p:cNvPicPr>
          <p:nvPr/>
        </p:nvPicPr>
        <p:blipFill>
          <a:blip r:embed="rId2" cstate="print"/>
          <a:stretch>
            <a:fillRect/>
          </a:stretch>
        </p:blipFill>
        <p:spPr>
          <a:xfrm>
            <a:off x="3107864" y="1759974"/>
            <a:ext cx="3755922" cy="3090441"/>
          </a:xfrm>
          <a:prstGeom prst="rect">
            <a:avLst/>
          </a:prstGeom>
        </p:spPr>
      </p:pic>
    </p:spTree>
    <p:extLst>
      <p:ext uri="{BB962C8B-B14F-4D97-AF65-F5344CB8AC3E}">
        <p14:creationId xmlns:p14="http://schemas.microsoft.com/office/powerpoint/2010/main" val="13170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E261-B5DF-440D-8604-BB51A8438B4D}"/>
              </a:ext>
            </a:extLst>
          </p:cNvPr>
          <p:cNvSpPr>
            <a:spLocks noGrp="1"/>
          </p:cNvSpPr>
          <p:nvPr>
            <p:ph type="title"/>
          </p:nvPr>
        </p:nvSpPr>
        <p:spPr>
          <a:xfrm>
            <a:off x="4729317" y="550607"/>
            <a:ext cx="1742767" cy="1293028"/>
          </a:xfrm>
        </p:spPr>
        <p:txBody>
          <a:bodyPr/>
          <a:lstStyle/>
          <a:p>
            <a:r>
              <a:rPr lang="en-IN" sz="2400" b="1" u="sng" dirty="0">
                <a:solidFill>
                  <a:srgbClr val="000000"/>
                </a:solidFill>
                <a:latin typeface="Calibri" panose="020F0502020204030204" pitchFamily="34" charset="0"/>
              </a:rPr>
              <a:t>Abstract</a:t>
            </a:r>
            <a:br>
              <a:rPr lang="en-IN" sz="1800" b="1" dirty="0">
                <a:solidFill>
                  <a:srgbClr val="000000"/>
                </a:solidFill>
                <a:latin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333552C7-77DD-51C2-62FF-4DA1FB31FBA8}"/>
              </a:ext>
            </a:extLst>
          </p:cNvPr>
          <p:cNvSpPr>
            <a:spLocks noGrp="1"/>
          </p:cNvSpPr>
          <p:nvPr>
            <p:ph idx="1"/>
          </p:nvPr>
        </p:nvSpPr>
        <p:spPr>
          <a:xfrm>
            <a:off x="442452" y="1435510"/>
            <a:ext cx="11366090" cy="4783175"/>
          </a:xfrm>
        </p:spPr>
        <p:txBody>
          <a:bodyPr>
            <a:normAutofit/>
          </a:bodyPr>
          <a:lstStyle/>
          <a:p>
            <a:pPr>
              <a:lnSpc>
                <a:spcPct val="150000"/>
              </a:lnSpc>
            </a:pPr>
            <a:r>
              <a:rPr lang="en-US" sz="1800" b="0" dirty="0">
                <a:effectLst/>
                <a:latin typeface="Times New Roman" panose="02020603050405020304" pitchFamily="18" charset="0"/>
                <a:ea typeface="Times New Roman" panose="02020603050405020304" pitchFamily="18" charset="0"/>
              </a:rPr>
              <a:t>Mass data processing and analysis have become crucial in handling vast datasets efficiently. AWS offers robust solutions like AWS Data Brew and AWS Glue for these purposes Data Brew is a visual data preparation tool that enables users to clean and normalize data without writing code. It simplifies data wrangling tasks through an intuitive interface, providing over 250 pre-built transformations to automate repetitive data preparation tasks. Data Brew supports a wide range of data sources, allowing seamless integration with data lakes, data warehouses, and other AWS services Glue, on the other hand, is a fully managed extract, transform, and load (ETL) service that makes it easy to prepare and load data for analytics. Glue automatically discovers and catalogs metadata about data stores, streams, and datasets, reducing the manual effort in setting up ETL jobs. </a:t>
            </a:r>
          </a:p>
        </p:txBody>
      </p:sp>
    </p:spTree>
    <p:extLst>
      <p:ext uri="{BB962C8B-B14F-4D97-AF65-F5344CB8AC3E}">
        <p14:creationId xmlns:p14="http://schemas.microsoft.com/office/powerpoint/2010/main" val="316793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ACCC-DAE8-E9E6-1C0B-3FFE3B6140D5}"/>
              </a:ext>
            </a:extLst>
          </p:cNvPr>
          <p:cNvSpPr>
            <a:spLocks noGrp="1"/>
          </p:cNvSpPr>
          <p:nvPr>
            <p:ph type="title"/>
          </p:nvPr>
        </p:nvSpPr>
        <p:spPr>
          <a:xfrm>
            <a:off x="4654345" y="518566"/>
            <a:ext cx="2961968" cy="1293028"/>
          </a:xfrm>
        </p:spPr>
        <p:txBody>
          <a:bodyPr/>
          <a:lstStyle/>
          <a:p>
            <a:r>
              <a:rPr lang="en-US" sz="2400" b="1" spc="-10" dirty="0">
                <a:effectLst/>
                <a:latin typeface="Times New Roman" panose="02020603050405020304" pitchFamily="18" charset="0"/>
                <a:ea typeface="Times New Roman" panose="02020603050405020304" pitchFamily="18" charset="0"/>
              </a:rPr>
              <a:t>INTRODUCTION</a:t>
            </a:r>
            <a:br>
              <a:rPr lang="en-IN" sz="1800" spc="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87B5DEF-9EA4-D019-976F-FDC058B86FB2}"/>
              </a:ext>
            </a:extLst>
          </p:cNvPr>
          <p:cNvSpPr>
            <a:spLocks noGrp="1"/>
          </p:cNvSpPr>
          <p:nvPr>
            <p:ph idx="1"/>
          </p:nvPr>
        </p:nvSpPr>
        <p:spPr>
          <a:xfrm>
            <a:off x="393290" y="1553496"/>
            <a:ext cx="11484078" cy="4665189"/>
          </a:xfrm>
        </p:spPr>
        <p:txBody>
          <a:bodyPr/>
          <a:lstStyle/>
          <a:p>
            <a:pPr>
              <a:lnSpc>
                <a:spcPct val="150000"/>
              </a:lnSpc>
            </a:pPr>
            <a:r>
              <a:rPr lang="en-US" sz="1800" dirty="0">
                <a:effectLst/>
                <a:latin typeface="Times New Roman" panose="02020603050405020304" pitchFamily="18" charset="0"/>
                <a:ea typeface="Times New Roman" panose="02020603050405020304" pitchFamily="18" charset="0"/>
              </a:rPr>
              <a:t>The exponential growth of data in recent years has presented both opportunities and challenges for organizations across various sectors. As data becomes increasingly central to decision-making, the need for efficient and scalable data processing and analysis tools has never been greater. Companies are tasked with managing vast amounts of data from diverse sources, requiring robust solutions that can handle complex data workflows while ensuring data quality and integrity. Amazon Web Services (AWS) has emerged as a leading provider of cloud-based solutions for data processing and analysis. Among its extensive suite of tools, AWS Data Brew and AWS Glue stand out as powerful services designed to streamline and automate data preparation and ETL (Extract, Transform, Load) processes. This introduction delves into the significance of these tools in the context of mass data processing and analysis, highlighting their key features, benefits, and applications</a:t>
            </a:r>
            <a:endParaRPr lang="en-IN" dirty="0"/>
          </a:p>
        </p:txBody>
      </p:sp>
    </p:spTree>
    <p:extLst>
      <p:ext uri="{BB962C8B-B14F-4D97-AF65-F5344CB8AC3E}">
        <p14:creationId xmlns:p14="http://schemas.microsoft.com/office/powerpoint/2010/main" val="46737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B0E4D3-A946-C39F-642A-2ED29FEDC1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950" y="1438224"/>
            <a:ext cx="7728154" cy="4315849"/>
          </a:xfrm>
          <a:prstGeom prst="rect">
            <a:avLst/>
          </a:prstGeom>
        </p:spPr>
      </p:pic>
      <p:sp>
        <p:nvSpPr>
          <p:cNvPr id="6" name="TextBox 5">
            <a:extLst>
              <a:ext uri="{FF2B5EF4-FFF2-40B4-BE49-F238E27FC236}">
                <a16:creationId xmlns:a16="http://schemas.microsoft.com/office/drawing/2014/main" id="{2AF86B0B-1F80-556C-1542-02B6756BC376}"/>
              </a:ext>
            </a:extLst>
          </p:cNvPr>
          <p:cNvSpPr txBox="1"/>
          <p:nvPr/>
        </p:nvSpPr>
        <p:spPr>
          <a:xfrm>
            <a:off x="7855974" y="1670692"/>
            <a:ext cx="3982065" cy="2400657"/>
          </a:xfrm>
          <a:prstGeom prst="rect">
            <a:avLst/>
          </a:prstGeom>
          <a:noFill/>
        </p:spPr>
        <p:txBody>
          <a:bodyPr wrap="square">
            <a:spAutoFit/>
          </a:bodyPr>
          <a:lstStyle/>
          <a:p>
            <a:pPr>
              <a:spcBef>
                <a:spcPts val="1210"/>
              </a:spcBef>
            </a:pPr>
            <a:r>
              <a:rPr lang="en-US" sz="20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144145"/>
            <a:r>
              <a:rPr lang="en-US" sz="1800" b="1" i="1" dirty="0">
                <a:effectLst/>
                <a:latin typeface="Times New Roman" panose="02020603050405020304" pitchFamily="18" charset="0"/>
                <a:ea typeface="Times New Roman" panose="02020603050405020304" pitchFamily="18" charset="0"/>
              </a:rPr>
              <a:t>SERVICES</a:t>
            </a:r>
            <a:r>
              <a:rPr lang="en-US" sz="1800" b="1" i="1" spc="-15" dirty="0">
                <a:effectLst/>
                <a:latin typeface="Times New Roman" panose="02020603050405020304" pitchFamily="18" charset="0"/>
                <a:ea typeface="Times New Roman" panose="02020603050405020304" pitchFamily="18" charset="0"/>
              </a:rPr>
              <a:t> </a:t>
            </a:r>
            <a:r>
              <a:rPr lang="en-US" sz="1800" b="1" i="1" spc="-20" dirty="0">
                <a:effectLst/>
                <a:latin typeface="Times New Roman" panose="02020603050405020304" pitchFamily="18" charset="0"/>
                <a:ea typeface="Times New Roman" panose="02020603050405020304" pitchFamily="18" charset="0"/>
              </a:rPr>
              <a:t>USED:</a:t>
            </a:r>
            <a:endParaRPr lang="en-IN" sz="1600" dirty="0">
              <a:effectLst/>
              <a:latin typeface="Times New Roman" panose="02020603050405020304" pitchFamily="18" charset="0"/>
              <a:ea typeface="Times New Roman" panose="02020603050405020304" pitchFamily="18" charset="0"/>
            </a:endParaRPr>
          </a:p>
          <a:p>
            <a:pPr marL="342900" lvl="0" indent="-342900">
              <a:spcBef>
                <a:spcPts val="1210"/>
              </a:spcBef>
              <a:buSzPts val="1200"/>
              <a:buFont typeface="Symbol" panose="05050102010706020507" pitchFamily="18" charset="2"/>
              <a:buChar char=""/>
              <a:tabLst>
                <a:tab pos="520700" algn="l"/>
              </a:tabLst>
            </a:pPr>
            <a:r>
              <a:rPr lang="en-US" sz="1800" spc="0" dirty="0">
                <a:effectLst/>
                <a:latin typeface="Times New Roman" panose="02020603050405020304" pitchFamily="18" charset="0"/>
                <a:ea typeface="Symbol" panose="05050102010706020507" pitchFamily="18" charset="2"/>
                <a:cs typeface="Symbol" panose="05050102010706020507" pitchFamily="18" charset="2"/>
              </a:rPr>
              <a:t>Amazon S3 bucket</a:t>
            </a:r>
            <a:endParaRPr lang="en-IN" sz="1600" spc="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spcBef>
                <a:spcPts val="1205"/>
              </a:spcBef>
              <a:buSzPts val="1200"/>
              <a:buFont typeface="Symbol" panose="05050102010706020507" pitchFamily="18" charset="2"/>
              <a:buChar char=""/>
              <a:tabLst>
                <a:tab pos="520700" algn="l"/>
              </a:tabLst>
            </a:pPr>
            <a:r>
              <a:rPr lang="en-US" sz="1800" spc="0" dirty="0">
                <a:effectLst/>
                <a:latin typeface="Times New Roman" panose="02020603050405020304" pitchFamily="18" charset="0"/>
                <a:ea typeface="Symbol" panose="05050102010706020507" pitchFamily="18" charset="2"/>
                <a:cs typeface="Symbol" panose="05050102010706020507" pitchFamily="18" charset="2"/>
              </a:rPr>
              <a:t>Amazon Databrew</a:t>
            </a:r>
            <a:endParaRPr lang="en-IN" sz="1600" spc="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spcBef>
                <a:spcPts val="1210"/>
              </a:spcBef>
              <a:buSzPts val="1200"/>
              <a:buFont typeface="Symbol" panose="05050102010706020507" pitchFamily="18" charset="2"/>
              <a:buChar char=""/>
              <a:tabLst>
                <a:tab pos="520700" algn="l"/>
              </a:tabLst>
            </a:pPr>
            <a:r>
              <a:rPr lang="en-US" sz="1800" spc="0" dirty="0">
                <a:effectLst/>
                <a:latin typeface="Times New Roman" panose="02020603050405020304" pitchFamily="18" charset="0"/>
                <a:ea typeface="Symbol" panose="05050102010706020507" pitchFamily="18" charset="2"/>
                <a:cs typeface="Symbol" panose="05050102010706020507" pitchFamily="18" charset="2"/>
              </a:rPr>
              <a:t>Amazon Glue</a:t>
            </a:r>
            <a:endParaRPr lang="en-IN" sz="1600" spc="0" dirty="0">
              <a:effectLst/>
              <a:latin typeface="Times New Roman" panose="02020603050405020304" pitchFamily="18" charset="0"/>
              <a:ea typeface="Symbol" panose="05050102010706020507" pitchFamily="18" charset="2"/>
              <a:cs typeface="Symbol" panose="05050102010706020507" pitchFamily="18" charset="2"/>
            </a:endParaRPr>
          </a:p>
          <a:p>
            <a:pPr marL="342900" lvl="0" indent="-342900">
              <a:spcBef>
                <a:spcPts val="1205"/>
              </a:spcBef>
              <a:buSzPts val="1200"/>
              <a:buFont typeface="Symbol" panose="05050102010706020507" pitchFamily="18" charset="2"/>
              <a:buChar char=""/>
              <a:tabLst>
                <a:tab pos="520700" algn="l"/>
              </a:tabLst>
            </a:pPr>
            <a:r>
              <a:rPr lang="en-US" sz="1800" spc="-10" dirty="0">
                <a:effectLst/>
                <a:latin typeface="Times New Roman" panose="02020603050405020304" pitchFamily="18" charset="0"/>
                <a:ea typeface="Symbol" panose="05050102010706020507" pitchFamily="18" charset="2"/>
                <a:cs typeface="Symbol" panose="05050102010706020507" pitchFamily="18" charset="2"/>
              </a:rPr>
              <a:t>Amazon Athena</a:t>
            </a:r>
            <a:endParaRPr lang="en-IN" sz="1600" spc="0" dirty="0">
              <a:effectLst/>
              <a:latin typeface="Times New Roman" panose="02020603050405020304" pitchFamily="18" charset="0"/>
              <a:ea typeface="Symbol" panose="05050102010706020507" pitchFamily="18" charset="2"/>
              <a:cs typeface="Symbol" panose="05050102010706020507" pitchFamily="18" charset="2"/>
            </a:endParaRPr>
          </a:p>
        </p:txBody>
      </p:sp>
      <p:sp>
        <p:nvSpPr>
          <p:cNvPr id="8" name="TextBox 7">
            <a:extLst>
              <a:ext uri="{FF2B5EF4-FFF2-40B4-BE49-F238E27FC236}">
                <a16:creationId xmlns:a16="http://schemas.microsoft.com/office/drawing/2014/main" id="{015B0BDA-2CEA-81E4-ECD4-86FE739809D3}"/>
              </a:ext>
            </a:extLst>
          </p:cNvPr>
          <p:cNvSpPr txBox="1"/>
          <p:nvPr/>
        </p:nvSpPr>
        <p:spPr>
          <a:xfrm>
            <a:off x="1966452" y="5702883"/>
            <a:ext cx="6096000" cy="646331"/>
          </a:xfrm>
          <a:prstGeom prst="rect">
            <a:avLst/>
          </a:prstGeom>
          <a:noFill/>
        </p:spPr>
        <p:txBody>
          <a:bodyPr wrap="square">
            <a:spAutoFit/>
          </a:bodyPr>
          <a:lstStyle/>
          <a:p>
            <a:pPr>
              <a:tabLst>
                <a:tab pos="1623060" algn="l"/>
              </a:tabLst>
            </a:pPr>
            <a:r>
              <a:rPr lang="en-US" sz="1800" b="1" dirty="0">
                <a:effectLst/>
                <a:latin typeface="Times New Roman" panose="02020603050405020304" pitchFamily="18" charset="0"/>
                <a:ea typeface="Times New Roman" panose="02020603050405020304" pitchFamily="18" charset="0"/>
              </a:rPr>
              <a:t>Figure :architeture of mass dataprocessing </a:t>
            </a:r>
            <a:r>
              <a:rPr lang="en-US" sz="1600" dirty="0">
                <a:latin typeface="Times New Roman" panose="02020603050405020304" pitchFamily="18" charset="0"/>
                <a:ea typeface="Times New Roman" panose="02020603050405020304" pitchFamily="18" charset="0"/>
              </a:rPr>
              <a:t> </a:t>
            </a:r>
            <a:br>
              <a:rPr lang="en-US" sz="1600" dirty="0">
                <a:effectLst/>
                <a:latin typeface="Times New Roman" panose="02020603050405020304" pitchFamily="18" charset="0"/>
                <a:ea typeface="Times New Roman" panose="02020603050405020304" pitchFamily="18" charset="0"/>
              </a:rPr>
            </a:br>
            <a:endParaRPr lang="en-IN" dirty="0"/>
          </a:p>
        </p:txBody>
      </p:sp>
    </p:spTree>
    <p:extLst>
      <p:ext uri="{BB962C8B-B14F-4D97-AF65-F5344CB8AC3E}">
        <p14:creationId xmlns:p14="http://schemas.microsoft.com/office/powerpoint/2010/main" val="1488129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C96C83-E578-AE80-F015-6E844B4609BD}"/>
              </a:ext>
            </a:extLst>
          </p:cNvPr>
          <p:cNvSpPr txBox="1"/>
          <p:nvPr/>
        </p:nvSpPr>
        <p:spPr>
          <a:xfrm>
            <a:off x="8250241" y="72170"/>
            <a:ext cx="2143433" cy="1077218"/>
          </a:xfrm>
          <a:prstGeom prst="rect">
            <a:avLst/>
          </a:prstGeom>
          <a:noFill/>
        </p:spPr>
        <p:txBody>
          <a:bodyPr wrap="square">
            <a:spAutoFit/>
          </a:bodyPr>
          <a:lstStyle/>
          <a:p>
            <a:pPr>
              <a:tabLst>
                <a:tab pos="1623060" algn="l"/>
              </a:tabLst>
            </a:pPr>
            <a:endParaRPr lang="en-IN" sz="1800" b="0" i="0" u="sng" dirty="0">
              <a:solidFill>
                <a:srgbClr val="000000"/>
              </a:solidFill>
              <a:latin typeface="Calibri" panose="020F0502020204030204" pitchFamily="34" charset="0"/>
            </a:endParaRPr>
          </a:p>
          <a:p>
            <a:pPr>
              <a:tabLst>
                <a:tab pos="1623060" algn="l"/>
              </a:tabLst>
            </a:pPr>
            <a:r>
              <a:rPr lang="en-US" sz="1800" b="1" u="sng" dirty="0">
                <a:effectLst/>
                <a:latin typeface="Times New Roman" panose="02020603050405020304" pitchFamily="18" charset="0"/>
                <a:ea typeface="Times New Roman" panose="02020603050405020304" pitchFamily="18" charset="0"/>
              </a:rPr>
              <a:t> </a:t>
            </a:r>
            <a:r>
              <a:rPr lang="en-IN" sz="2800" b="1" u="sng" dirty="0">
                <a:solidFill>
                  <a:srgbClr val="000000"/>
                </a:solidFill>
                <a:latin typeface="Calibri" panose="020F0502020204030204" pitchFamily="34" charset="0"/>
              </a:rPr>
              <a:t>JSON FILE</a:t>
            </a:r>
            <a:endParaRPr lang="en-IN" sz="2800" u="sng" dirty="0">
              <a:solidFill>
                <a:srgbClr val="000000"/>
              </a:solidFill>
              <a:latin typeface="Calibri" panose="020F0502020204030204" pitchFamily="34" charset="0"/>
            </a:endParaRPr>
          </a:p>
          <a:p>
            <a:endParaRPr lang="en-IN" u="sng" dirty="0"/>
          </a:p>
        </p:txBody>
      </p:sp>
      <p:pic>
        <p:nvPicPr>
          <p:cNvPr id="9" name="Picture 8">
            <a:extLst>
              <a:ext uri="{FF2B5EF4-FFF2-40B4-BE49-F238E27FC236}">
                <a16:creationId xmlns:a16="http://schemas.microsoft.com/office/drawing/2014/main" id="{6A9A953B-B3A9-01C9-7A6E-2CF67ED62A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861" y="1592825"/>
            <a:ext cx="5729468" cy="4522839"/>
          </a:xfrm>
          <a:prstGeom prst="rect">
            <a:avLst/>
          </a:prstGeom>
        </p:spPr>
      </p:pic>
      <p:sp>
        <p:nvSpPr>
          <p:cNvPr id="13" name="TextBox 12">
            <a:extLst>
              <a:ext uri="{FF2B5EF4-FFF2-40B4-BE49-F238E27FC236}">
                <a16:creationId xmlns:a16="http://schemas.microsoft.com/office/drawing/2014/main" id="{5EE6489C-5D34-FC36-61DD-451E75BA4D99}"/>
              </a:ext>
            </a:extLst>
          </p:cNvPr>
          <p:cNvSpPr txBox="1"/>
          <p:nvPr/>
        </p:nvSpPr>
        <p:spPr>
          <a:xfrm>
            <a:off x="6643867" y="1105639"/>
            <a:ext cx="5356185" cy="2120068"/>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A JSON (JavaScript Object Notation) file is a file that stores data in a structured, readable format.</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It is primarily used for data exchange between a server and a web application, but it can also be used for configuration files and storing structured data.</a:t>
            </a:r>
          </a:p>
        </p:txBody>
      </p:sp>
      <p:pic>
        <p:nvPicPr>
          <p:cNvPr id="17" name="Picture 16">
            <a:extLst>
              <a:ext uri="{FF2B5EF4-FFF2-40B4-BE49-F238E27FC236}">
                <a16:creationId xmlns:a16="http://schemas.microsoft.com/office/drawing/2014/main" id="{EBFFDF35-7CD6-8887-C59B-38C12A1782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1413" y="3232230"/>
            <a:ext cx="3721091" cy="2777924"/>
          </a:xfrm>
          <a:prstGeom prst="rect">
            <a:avLst/>
          </a:prstGeom>
        </p:spPr>
      </p:pic>
    </p:spTree>
    <p:extLst>
      <p:ext uri="{BB962C8B-B14F-4D97-AF65-F5344CB8AC3E}">
        <p14:creationId xmlns:p14="http://schemas.microsoft.com/office/powerpoint/2010/main" val="1858835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611EAC-FEC8-BC8B-BD86-ECBD60D709AA}"/>
              </a:ext>
            </a:extLst>
          </p:cNvPr>
          <p:cNvSpPr txBox="1"/>
          <p:nvPr/>
        </p:nvSpPr>
        <p:spPr>
          <a:xfrm>
            <a:off x="8523571" y="626431"/>
            <a:ext cx="1386348" cy="461665"/>
          </a:xfrm>
          <a:prstGeom prst="rect">
            <a:avLst/>
          </a:prstGeom>
          <a:noFill/>
        </p:spPr>
        <p:txBody>
          <a:bodyPr wrap="square">
            <a:spAutoFit/>
          </a:bodyPr>
          <a:lstStyle/>
          <a:p>
            <a:r>
              <a:rPr lang="en-IN" sz="2400" b="1" u="sng" dirty="0">
                <a:solidFill>
                  <a:srgbClr val="000000"/>
                </a:solidFill>
                <a:latin typeface="Calibri" panose="020F0502020204030204" pitchFamily="34" charset="0"/>
              </a:rPr>
              <a:t>CSV FILE</a:t>
            </a:r>
          </a:p>
        </p:txBody>
      </p:sp>
      <p:pic>
        <p:nvPicPr>
          <p:cNvPr id="9" name="Picture 8">
            <a:extLst>
              <a:ext uri="{FF2B5EF4-FFF2-40B4-BE49-F238E27FC236}">
                <a16:creationId xmlns:a16="http://schemas.microsoft.com/office/drawing/2014/main" id="{7AEF56F2-E8E0-CA1B-E0CA-C59073B28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633" y="1514169"/>
            <a:ext cx="6528620" cy="5014450"/>
          </a:xfrm>
          <a:prstGeom prst="rect">
            <a:avLst/>
          </a:prstGeom>
        </p:spPr>
      </p:pic>
      <p:sp>
        <p:nvSpPr>
          <p:cNvPr id="11" name="TextBox 10">
            <a:extLst>
              <a:ext uri="{FF2B5EF4-FFF2-40B4-BE49-F238E27FC236}">
                <a16:creationId xmlns:a16="http://schemas.microsoft.com/office/drawing/2014/main" id="{477A8C1F-BF19-461A-1CBA-2204A7172DA0}"/>
              </a:ext>
            </a:extLst>
          </p:cNvPr>
          <p:cNvSpPr txBox="1"/>
          <p:nvPr/>
        </p:nvSpPr>
        <p:spPr>
          <a:xfrm>
            <a:off x="6941575" y="1352124"/>
            <a:ext cx="4935792" cy="4197559"/>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 CSV (Comma-Separated Values) file is a plain text file that uses a comma to separate values. </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Each line in a CSV file corresponds to a row in a table, and each value in the line corresponds to a cell in that row. </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It's commonly used for exporting and importing data in a tabular format between different software applications, especially spreadsheets and databases. </a:t>
            </a:r>
          </a:p>
        </p:txBody>
      </p:sp>
      <p:pic>
        <p:nvPicPr>
          <p:cNvPr id="13" name="Picture 12">
            <a:extLst>
              <a:ext uri="{FF2B5EF4-FFF2-40B4-BE49-F238E27FC236}">
                <a16:creationId xmlns:a16="http://schemas.microsoft.com/office/drawing/2014/main" id="{B2FC0B94-F21B-31FE-06B0-7592B00627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3519" y="5218261"/>
            <a:ext cx="1700390" cy="1190900"/>
          </a:xfrm>
          <a:prstGeom prst="rect">
            <a:avLst/>
          </a:prstGeom>
        </p:spPr>
      </p:pic>
    </p:spTree>
    <p:extLst>
      <p:ext uri="{BB962C8B-B14F-4D97-AF65-F5344CB8AC3E}">
        <p14:creationId xmlns:p14="http://schemas.microsoft.com/office/powerpoint/2010/main" val="2938251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05EF7B-EE72-5FBC-B001-2F5E9FECC6B1}"/>
              </a:ext>
            </a:extLst>
          </p:cNvPr>
          <p:cNvSpPr txBox="1"/>
          <p:nvPr/>
        </p:nvSpPr>
        <p:spPr>
          <a:xfrm>
            <a:off x="7334865" y="179128"/>
            <a:ext cx="3146323" cy="461665"/>
          </a:xfrm>
          <a:prstGeom prst="rect">
            <a:avLst/>
          </a:prstGeom>
          <a:noFill/>
        </p:spPr>
        <p:txBody>
          <a:bodyPr wrap="square">
            <a:spAutoFit/>
          </a:bodyPr>
          <a:lstStyle/>
          <a:p>
            <a:r>
              <a:rPr lang="en-US" sz="2400" b="1" u="sng" dirty="0">
                <a:solidFill>
                  <a:srgbClr val="000000"/>
                </a:solidFill>
                <a:latin typeface="Calibri" panose="020F0502020204030204" pitchFamily="34" charset="0"/>
              </a:rPr>
              <a:t>JSON FILE TO CSV FILE</a:t>
            </a:r>
            <a:endParaRPr lang="en-US" sz="2400" b="0" u="sng" dirty="0">
              <a:solidFill>
                <a:srgbClr val="000000"/>
              </a:solidFill>
              <a:latin typeface="Calibri" panose="020F0502020204030204" pitchFamily="34" charset="0"/>
            </a:endParaRPr>
          </a:p>
        </p:txBody>
      </p:sp>
      <p:sp>
        <p:nvSpPr>
          <p:cNvPr id="5" name="TextBox 4">
            <a:extLst>
              <a:ext uri="{FF2B5EF4-FFF2-40B4-BE49-F238E27FC236}">
                <a16:creationId xmlns:a16="http://schemas.microsoft.com/office/drawing/2014/main" id="{AD5E8414-E1F3-3BBD-E10C-C815FCF70B48}"/>
              </a:ext>
            </a:extLst>
          </p:cNvPr>
          <p:cNvSpPr txBox="1"/>
          <p:nvPr/>
        </p:nvSpPr>
        <p:spPr>
          <a:xfrm>
            <a:off x="4041059" y="1439858"/>
            <a:ext cx="7865806" cy="3366563"/>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To convert a JSON file to a CSV file using AWS Glue and AWS Glue DataBrew, you can follow these steps:    </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Go to the AWS Glue console.   - Create a new crawler to crawl the JSON file and create a table in the Glue Data Catalog.</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Create a Job:   Create a new Glue ETL job.   - Choose the table created by the crawler as the data source. </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In the script generated, modify it to output the data to a CSV file. The script would look something like this:</a:t>
            </a:r>
          </a:p>
        </p:txBody>
      </p:sp>
      <p:pic>
        <p:nvPicPr>
          <p:cNvPr id="7" name="Picture 6">
            <a:extLst>
              <a:ext uri="{FF2B5EF4-FFF2-40B4-BE49-F238E27FC236}">
                <a16:creationId xmlns:a16="http://schemas.microsoft.com/office/drawing/2014/main" id="{D493612B-0898-E079-57DA-34B12A886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605" y="2655239"/>
            <a:ext cx="3095041" cy="1547521"/>
          </a:xfrm>
          <a:prstGeom prst="rect">
            <a:avLst/>
          </a:prstGeom>
        </p:spPr>
      </p:pic>
    </p:spTree>
    <p:extLst>
      <p:ext uri="{BB962C8B-B14F-4D97-AF65-F5344CB8AC3E}">
        <p14:creationId xmlns:p14="http://schemas.microsoft.com/office/powerpoint/2010/main" val="734649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115034-B522-0B42-41B6-643057DE7758}"/>
              </a:ext>
            </a:extLst>
          </p:cNvPr>
          <p:cNvSpPr txBox="1"/>
          <p:nvPr/>
        </p:nvSpPr>
        <p:spPr>
          <a:xfrm>
            <a:off x="7974086" y="263402"/>
            <a:ext cx="3215147" cy="461665"/>
          </a:xfrm>
          <a:prstGeom prst="rect">
            <a:avLst/>
          </a:prstGeom>
          <a:noFill/>
        </p:spPr>
        <p:txBody>
          <a:bodyPr wrap="square">
            <a:spAutoFit/>
          </a:bodyPr>
          <a:lstStyle/>
          <a:p>
            <a:r>
              <a:rPr lang="en-IN" sz="1800" b="1" dirty="0">
                <a:solidFill>
                  <a:srgbClr val="000000"/>
                </a:solidFill>
                <a:latin typeface="Calibri" panose="020F0502020204030204" pitchFamily="34" charset="0"/>
              </a:rPr>
              <a:t>	</a:t>
            </a:r>
            <a:r>
              <a:rPr lang="en-IN" sz="2400" b="1" u="sng" dirty="0">
                <a:solidFill>
                  <a:srgbClr val="000000"/>
                </a:solidFill>
                <a:latin typeface="Calibri" panose="020F0502020204030204" pitchFamily="34" charset="0"/>
              </a:rPr>
              <a:t>S3 Bucket</a:t>
            </a:r>
          </a:p>
        </p:txBody>
      </p:sp>
      <p:pic>
        <p:nvPicPr>
          <p:cNvPr id="11" name="Picture 10">
            <a:extLst>
              <a:ext uri="{FF2B5EF4-FFF2-40B4-BE49-F238E27FC236}">
                <a16:creationId xmlns:a16="http://schemas.microsoft.com/office/drawing/2014/main" id="{99637F1C-67A1-A81C-4813-F585199FB5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89" y="1553497"/>
            <a:ext cx="6655943" cy="4704736"/>
          </a:xfrm>
          <a:prstGeom prst="rect">
            <a:avLst/>
          </a:prstGeom>
        </p:spPr>
      </p:pic>
      <p:sp>
        <p:nvSpPr>
          <p:cNvPr id="13" name="TextBox 12">
            <a:extLst>
              <a:ext uri="{FF2B5EF4-FFF2-40B4-BE49-F238E27FC236}">
                <a16:creationId xmlns:a16="http://schemas.microsoft.com/office/drawing/2014/main" id="{BE604563-DA6B-835F-E6B1-851CAD66115C}"/>
              </a:ext>
            </a:extLst>
          </p:cNvPr>
          <p:cNvSpPr txBox="1"/>
          <p:nvPr/>
        </p:nvSpPr>
        <p:spPr>
          <a:xfrm>
            <a:off x="6862916" y="727136"/>
            <a:ext cx="5112774" cy="5482527"/>
          </a:xfrm>
          <a:prstGeom prst="rect">
            <a:avLst/>
          </a:prstGeom>
          <a:noFill/>
        </p:spPr>
        <p:txBody>
          <a:bodyPr wrap="square">
            <a:spAutoFit/>
          </a:bodyPr>
          <a:lstStyle/>
          <a:p>
            <a:pPr marL="285750" indent="-285750">
              <a:lnSpc>
                <a:spcPct val="150000"/>
              </a:lnSpc>
              <a:spcBef>
                <a:spcPts val="50"/>
              </a:spcBef>
              <a:buFont typeface="Wingdings" panose="05000000000000000000" pitchFamily="2" charset="2"/>
              <a:buChar char="v"/>
            </a:pPr>
            <a:r>
              <a:rPr lang="en-US" dirty="0">
                <a:effectLst/>
                <a:latin typeface="Times New Roman" panose="02020603050405020304" pitchFamily="18" charset="0"/>
                <a:ea typeface="Times New Roman" panose="02020603050405020304" pitchFamily="18" charset="0"/>
              </a:rPr>
              <a:t>Amazon S3 (Simple Storage Service) is a scalable, high-speed, low-cost web-based service designed for online backup and archiving of data and application programs.</a:t>
            </a:r>
          </a:p>
          <a:p>
            <a:pPr marL="285750" indent="-285750">
              <a:lnSpc>
                <a:spcPct val="150000"/>
              </a:lnSpc>
              <a:spcBef>
                <a:spcPts val="50"/>
              </a:spcBef>
              <a:buFont typeface="Wingdings" panose="05000000000000000000" pitchFamily="2" charset="2"/>
              <a:buChar char="v"/>
            </a:pPr>
            <a:r>
              <a:rPr lang="en-US" dirty="0">
                <a:effectLst/>
                <a:latin typeface="Times New Roman" panose="02020603050405020304" pitchFamily="18" charset="0"/>
                <a:ea typeface="Times New Roman" panose="02020603050405020304" pitchFamily="18" charset="0"/>
              </a:rPr>
              <a:t> An S3 bucket is a container for storing objects (which consist of data and metadata) within the S3 service. </a:t>
            </a:r>
          </a:p>
          <a:p>
            <a:pPr marL="285750" indent="-285750">
              <a:lnSpc>
                <a:spcPct val="150000"/>
              </a:lnSpc>
              <a:spcBef>
                <a:spcPts val="50"/>
              </a:spcBef>
              <a:buFont typeface="Wingdings" panose="05000000000000000000" pitchFamily="2" charset="2"/>
              <a:buChar char="v"/>
            </a:pPr>
            <a:r>
              <a:rPr lang="en-US" dirty="0">
                <a:effectLst/>
                <a:latin typeface="Times New Roman" panose="02020603050405020304" pitchFamily="18" charset="0"/>
                <a:ea typeface="Times New Roman" panose="02020603050405020304" pitchFamily="18" charset="0"/>
              </a:rPr>
              <a:t>Each bucket has a globally unique name and can store an unlimited number of objects, each of which can be up to 5 terabytes in size.</a:t>
            </a:r>
          </a:p>
          <a:p>
            <a:pPr marL="285750" indent="-285750">
              <a:lnSpc>
                <a:spcPct val="150000"/>
              </a:lnSpc>
              <a:spcBef>
                <a:spcPts val="50"/>
              </a:spcBef>
              <a:buFont typeface="Wingdings" panose="05000000000000000000" pitchFamily="2" charset="2"/>
              <a:buChar char="v"/>
            </a:pPr>
            <a:r>
              <a:rPr lang="en-US" dirty="0">
                <a:effectLst/>
                <a:latin typeface="Times New Roman" panose="02020603050405020304" pitchFamily="18" charset="0"/>
                <a:ea typeface="Times New Roman" panose="02020603050405020304" pitchFamily="18" charset="0"/>
              </a:rPr>
              <a:t> Buckets can be configured with various settings, such as permissions, versioning, and lifecycle policies to manage the data over time..</a:t>
            </a:r>
            <a:endParaRPr lang="en-IN" dirty="0">
              <a:effectLst/>
              <a:latin typeface="Times New Roman" panose="02020603050405020304" pitchFamily="18" charset="0"/>
              <a:ea typeface="Times New Roman" panose="02020603050405020304" pitchFamily="18" charset="0"/>
            </a:endParaRPr>
          </a:p>
        </p:txBody>
      </p:sp>
      <p:pic>
        <p:nvPicPr>
          <p:cNvPr id="17" name="Picture 16">
            <a:extLst>
              <a:ext uri="{FF2B5EF4-FFF2-40B4-BE49-F238E27FC236}">
                <a16:creationId xmlns:a16="http://schemas.microsoft.com/office/drawing/2014/main" id="{B2D9E022-213A-E758-E6FF-C8E2F8D9435E}"/>
              </a:ext>
            </a:extLst>
          </p:cNvPr>
          <p:cNvPicPr>
            <a:picLocks noChangeAspect="1"/>
          </p:cNvPicPr>
          <p:nvPr/>
        </p:nvPicPr>
        <p:blipFill>
          <a:blip r:embed="rId3"/>
          <a:stretch>
            <a:fillRect/>
          </a:stretch>
        </p:blipFill>
        <p:spPr>
          <a:xfrm>
            <a:off x="10934138" y="5783128"/>
            <a:ext cx="887695" cy="853070"/>
          </a:xfrm>
          <a:prstGeom prst="rect">
            <a:avLst/>
          </a:prstGeom>
        </p:spPr>
      </p:pic>
    </p:spTree>
    <p:extLst>
      <p:ext uri="{BB962C8B-B14F-4D97-AF65-F5344CB8AC3E}">
        <p14:creationId xmlns:p14="http://schemas.microsoft.com/office/powerpoint/2010/main" val="281138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1658-1BC5-719C-3687-D687CC0B8280}"/>
              </a:ext>
            </a:extLst>
          </p:cNvPr>
          <p:cNvSpPr>
            <a:spLocks noGrp="1"/>
          </p:cNvSpPr>
          <p:nvPr>
            <p:ph type="title"/>
          </p:nvPr>
        </p:nvSpPr>
        <p:spPr>
          <a:xfrm>
            <a:off x="7049729" y="117987"/>
            <a:ext cx="3384753" cy="786581"/>
          </a:xfrm>
        </p:spPr>
        <p:txBody>
          <a:bodyPr>
            <a:normAutofit/>
          </a:bodyPr>
          <a:lstStyle/>
          <a:p>
            <a:r>
              <a:rPr lang="en-IN" sz="2400" u="sng" dirty="0">
                <a:solidFill>
                  <a:srgbClr val="000000"/>
                </a:solidFill>
                <a:latin typeface="Calibri" panose="020F0502020204030204" pitchFamily="34" charset="0"/>
              </a:rPr>
              <a:t>Amazon </a:t>
            </a:r>
            <a:r>
              <a:rPr lang="en-IN" sz="2400" u="sng" dirty="0" err="1">
                <a:solidFill>
                  <a:srgbClr val="000000"/>
                </a:solidFill>
                <a:latin typeface="Calibri" panose="020F0502020204030204" pitchFamily="34" charset="0"/>
              </a:rPr>
              <a:t>Databrew</a:t>
            </a:r>
            <a:br>
              <a:rPr lang="en-IN" sz="1800" b="1" dirty="0">
                <a:solidFill>
                  <a:srgbClr val="000000"/>
                </a:solidFill>
                <a:latin typeface="Calibri" panose="020F0502020204030204" pitchFamily="34" charset="0"/>
              </a:rPr>
            </a:br>
            <a:endParaRPr lang="en-IN" sz="2400" u="sng" dirty="0"/>
          </a:p>
        </p:txBody>
      </p:sp>
      <p:pic>
        <p:nvPicPr>
          <p:cNvPr id="5" name="Content Placeholder 4">
            <a:extLst>
              <a:ext uri="{FF2B5EF4-FFF2-40B4-BE49-F238E27FC236}">
                <a16:creationId xmlns:a16="http://schemas.microsoft.com/office/drawing/2014/main" id="{B08226FB-1DA4-4876-F25B-C620CDCB3B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104" y="1887794"/>
            <a:ext cx="6370185" cy="4149213"/>
          </a:xfrm>
        </p:spPr>
      </p:pic>
      <p:sp>
        <p:nvSpPr>
          <p:cNvPr id="7" name="TextBox 6">
            <a:extLst>
              <a:ext uri="{FF2B5EF4-FFF2-40B4-BE49-F238E27FC236}">
                <a16:creationId xmlns:a16="http://schemas.microsoft.com/office/drawing/2014/main" id="{A28F240D-0FE8-6CB9-2A23-83453FDEF03D}"/>
              </a:ext>
            </a:extLst>
          </p:cNvPr>
          <p:cNvSpPr txBox="1"/>
          <p:nvPr/>
        </p:nvSpPr>
        <p:spPr>
          <a:xfrm>
            <a:off x="6558115" y="582949"/>
            <a:ext cx="5407743" cy="5028556"/>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 Visual Interface: </a:t>
            </a:r>
            <a:r>
              <a:rPr lang="en-US" sz="1800" dirty="0" err="1">
                <a:effectLst/>
                <a:latin typeface="Times New Roman" panose="02020603050405020304" pitchFamily="18" charset="0"/>
                <a:ea typeface="Times New Roman" panose="02020603050405020304" pitchFamily="18" charset="0"/>
              </a:rPr>
              <a:t>DataBrew</a:t>
            </a:r>
            <a:r>
              <a:rPr lang="en-US" sz="1800" dirty="0">
                <a:effectLst/>
                <a:latin typeface="Times New Roman" panose="02020603050405020304" pitchFamily="18" charset="0"/>
                <a:ea typeface="Times New Roman" panose="02020603050405020304" pitchFamily="18" charset="0"/>
              </a:rPr>
              <a:t> provides a visual interface to interact with data. Users can profile data, detect anomalies, and apply transformations through a point-and-click interface.</a:t>
            </a:r>
            <a:endParaRPr lang="en-IN" sz="1400" dirty="0">
              <a:effectLst/>
              <a:latin typeface="Times New Roman" panose="02020603050405020304" pitchFamily="18" charset="0"/>
              <a:ea typeface="Times New Roman" panose="02020603050405020304" pitchFamily="18" charset="0"/>
            </a:endParaRPr>
          </a:p>
          <a:p>
            <a:pPr marL="285750" indent="-285750">
              <a:lnSpc>
                <a:spcPct val="150000"/>
              </a:lnSpc>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Data Preparation Steps: Users can apply over 250 pre-built transformations, such as filtering, grouping, and normalization, to prepare data for machine learning, analytics, and data warehousing.</a:t>
            </a:r>
            <a:endParaRPr lang="en-IN" sz="1400" dirty="0">
              <a:effectLst/>
              <a:latin typeface="Times New Roman" panose="02020603050405020304" pitchFamily="18" charset="0"/>
              <a:ea typeface="Times New Roman" panose="02020603050405020304" pitchFamily="18" charset="0"/>
            </a:endParaRPr>
          </a:p>
          <a:p>
            <a:pPr marL="285750" indent="-285750">
              <a:lnSpc>
                <a:spcPct val="150000"/>
              </a:lnSpc>
              <a:buFont typeface="Wingdings" panose="05000000000000000000" pitchFamily="2" charset="2"/>
              <a:buChar char="v"/>
            </a:pPr>
            <a:r>
              <a:rPr lang="en-US" sz="1800" dirty="0">
                <a:effectLst/>
                <a:latin typeface="Times New Roman" panose="02020603050405020304" pitchFamily="18" charset="0"/>
                <a:ea typeface="Times New Roman" panose="02020603050405020304" pitchFamily="18" charset="0"/>
              </a:rPr>
              <a:t>Data Sources: </a:t>
            </a:r>
            <a:r>
              <a:rPr lang="en-US" sz="1800" dirty="0" err="1">
                <a:effectLst/>
                <a:latin typeface="Times New Roman" panose="02020603050405020304" pitchFamily="18" charset="0"/>
                <a:ea typeface="Times New Roman" panose="02020603050405020304" pitchFamily="18" charset="0"/>
              </a:rPr>
              <a:t>DataBrew</a:t>
            </a:r>
            <a:r>
              <a:rPr lang="en-US" sz="1800" dirty="0">
                <a:effectLst/>
                <a:latin typeface="Times New Roman" panose="02020603050405020304" pitchFamily="18" charset="0"/>
                <a:ea typeface="Times New Roman" panose="02020603050405020304" pitchFamily="18" charset="0"/>
              </a:rPr>
              <a:t> can connect to various data sources, including Amazon S3, Amazon Redshift, Amazon RDS, and other AWS services, as well as third-party sources.</a:t>
            </a:r>
            <a:endParaRPr lang="en-IN" sz="1400" dirty="0">
              <a:effectLst/>
              <a:latin typeface="Times New Roman" panose="02020603050405020304" pitchFamily="18" charset="0"/>
              <a:ea typeface="Times New Roman" panose="02020603050405020304" pitchFamily="18" charset="0"/>
            </a:endParaRPr>
          </a:p>
        </p:txBody>
      </p:sp>
      <p:pic>
        <p:nvPicPr>
          <p:cNvPr id="11" name="Picture 10">
            <a:extLst>
              <a:ext uri="{FF2B5EF4-FFF2-40B4-BE49-F238E27FC236}">
                <a16:creationId xmlns:a16="http://schemas.microsoft.com/office/drawing/2014/main" id="{BAB8FCE2-8D06-8FC1-4FDC-499102A2945E}"/>
              </a:ext>
            </a:extLst>
          </p:cNvPr>
          <p:cNvPicPr>
            <a:picLocks noChangeAspect="1"/>
          </p:cNvPicPr>
          <p:nvPr/>
        </p:nvPicPr>
        <p:blipFill>
          <a:blip r:embed="rId3"/>
          <a:stretch>
            <a:fillRect/>
          </a:stretch>
        </p:blipFill>
        <p:spPr>
          <a:xfrm>
            <a:off x="10617967" y="5513913"/>
            <a:ext cx="955347" cy="1046187"/>
          </a:xfrm>
          <a:prstGeom prst="rect">
            <a:avLst/>
          </a:prstGeom>
        </p:spPr>
      </p:pic>
    </p:spTree>
    <p:extLst>
      <p:ext uri="{BB962C8B-B14F-4D97-AF65-F5344CB8AC3E}">
        <p14:creationId xmlns:p14="http://schemas.microsoft.com/office/powerpoint/2010/main" val="4166867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556C9-A2ED-6D2B-DD9D-A0439F9C9675}"/>
              </a:ext>
            </a:extLst>
          </p:cNvPr>
          <p:cNvSpPr>
            <a:spLocks noGrp="1"/>
          </p:cNvSpPr>
          <p:nvPr>
            <p:ph type="title"/>
          </p:nvPr>
        </p:nvSpPr>
        <p:spPr>
          <a:xfrm>
            <a:off x="7616141" y="-254199"/>
            <a:ext cx="2152891" cy="1293028"/>
          </a:xfrm>
        </p:spPr>
        <p:txBody>
          <a:bodyPr>
            <a:normAutofit/>
          </a:bodyPr>
          <a:lstStyle/>
          <a:p>
            <a:r>
              <a:rPr lang="en-US" sz="2400" b="1" u="sng" spc="-5" dirty="0">
                <a:effectLst/>
                <a:latin typeface="Times New Roman" panose="02020603050405020304" pitchFamily="18" charset="0"/>
                <a:ea typeface="Times New Roman" panose="02020603050405020304" pitchFamily="18" charset="0"/>
              </a:rPr>
              <a:t>AWS GLUE</a:t>
            </a:r>
            <a:endParaRPr lang="en-IN" sz="2400" u="sng" dirty="0"/>
          </a:p>
        </p:txBody>
      </p:sp>
      <p:pic>
        <p:nvPicPr>
          <p:cNvPr id="5" name="Content Placeholder 4">
            <a:extLst>
              <a:ext uri="{FF2B5EF4-FFF2-40B4-BE49-F238E27FC236}">
                <a16:creationId xmlns:a16="http://schemas.microsoft.com/office/drawing/2014/main" id="{562BCB05-AD70-B36B-B824-85C5B52712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897" y="1649800"/>
            <a:ext cx="6366076" cy="4693125"/>
          </a:xfrm>
        </p:spPr>
      </p:pic>
      <p:sp>
        <p:nvSpPr>
          <p:cNvPr id="7" name="TextBox 6">
            <a:extLst>
              <a:ext uri="{FF2B5EF4-FFF2-40B4-BE49-F238E27FC236}">
                <a16:creationId xmlns:a16="http://schemas.microsoft.com/office/drawing/2014/main" id="{931712D3-D708-0312-DBF7-F81288FD08A5}"/>
              </a:ext>
            </a:extLst>
          </p:cNvPr>
          <p:cNvSpPr txBox="1"/>
          <p:nvPr/>
        </p:nvSpPr>
        <p:spPr>
          <a:xfrm>
            <a:off x="6759615" y="854046"/>
            <a:ext cx="5092861" cy="4653646"/>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AWS Glue is a fully managed extract, transform, and load (ETL) service provided by Amazon Web Services.</a:t>
            </a:r>
          </a:p>
          <a:p>
            <a:pPr marL="34290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It is designed to help you prepare and load data for analytics. </a:t>
            </a:r>
          </a:p>
          <a:p>
            <a:pPr marL="34290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With AWS Glue, you can discover and connect to different data sources, transform and clean data to be consistent and useful, and then move it reliably between various data stores and data lakes.</a:t>
            </a:r>
          </a:p>
        </p:txBody>
      </p:sp>
      <p:pic>
        <p:nvPicPr>
          <p:cNvPr id="9" name="Picture 8">
            <a:extLst>
              <a:ext uri="{FF2B5EF4-FFF2-40B4-BE49-F238E27FC236}">
                <a16:creationId xmlns:a16="http://schemas.microsoft.com/office/drawing/2014/main" id="{D7868340-B994-D87C-5EFE-60734552048B}"/>
              </a:ext>
            </a:extLst>
          </p:cNvPr>
          <p:cNvPicPr>
            <a:picLocks noChangeAspect="1"/>
          </p:cNvPicPr>
          <p:nvPr/>
        </p:nvPicPr>
        <p:blipFill>
          <a:blip r:embed="rId3"/>
          <a:stretch>
            <a:fillRect/>
          </a:stretch>
        </p:blipFill>
        <p:spPr>
          <a:xfrm>
            <a:off x="10506079" y="5444615"/>
            <a:ext cx="1183783" cy="1171322"/>
          </a:xfrm>
          <a:prstGeom prst="rect">
            <a:avLst/>
          </a:prstGeom>
        </p:spPr>
      </p:pic>
    </p:spTree>
    <p:extLst>
      <p:ext uri="{BB962C8B-B14F-4D97-AF65-F5344CB8AC3E}">
        <p14:creationId xmlns:p14="http://schemas.microsoft.com/office/powerpoint/2010/main" val="1434878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42006-40C0-F08F-3561-CFCCB992AD98}"/>
              </a:ext>
            </a:extLst>
          </p:cNvPr>
          <p:cNvSpPr>
            <a:spLocks noGrp="1"/>
          </p:cNvSpPr>
          <p:nvPr>
            <p:ph type="title"/>
          </p:nvPr>
        </p:nvSpPr>
        <p:spPr>
          <a:xfrm>
            <a:off x="8044405" y="-184750"/>
            <a:ext cx="1551008" cy="1293028"/>
          </a:xfrm>
        </p:spPr>
        <p:txBody>
          <a:bodyPr>
            <a:normAutofit/>
          </a:bodyPr>
          <a:lstStyle/>
          <a:p>
            <a:r>
              <a:rPr lang="en-IN" sz="2400" b="1" u="sng">
                <a:solidFill>
                  <a:srgbClr val="000000"/>
                </a:solidFill>
                <a:latin typeface="Calibri" panose="020F0502020204030204" pitchFamily="34" charset="0"/>
              </a:rPr>
              <a:t>ATHENA</a:t>
            </a:r>
            <a:br>
              <a:rPr lang="en-IN" sz="2400" b="1">
                <a:solidFill>
                  <a:srgbClr val="000000"/>
                </a:solidFill>
                <a:latin typeface="Calibri" panose="020F0502020204030204" pitchFamily="34" charset="0"/>
              </a:rPr>
            </a:br>
            <a:endParaRPr lang="en-IN" sz="2400" dirty="0"/>
          </a:p>
        </p:txBody>
      </p:sp>
      <p:pic>
        <p:nvPicPr>
          <p:cNvPr id="5" name="Content Placeholder 4">
            <a:extLst>
              <a:ext uri="{FF2B5EF4-FFF2-40B4-BE49-F238E27FC236}">
                <a16:creationId xmlns:a16="http://schemas.microsoft.com/office/drawing/2014/main" id="{9A45B6AC-1DF1-4107-EA6E-DE590868F7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572" y="1655180"/>
            <a:ext cx="6570917" cy="4687747"/>
          </a:xfrm>
        </p:spPr>
      </p:pic>
      <p:sp>
        <p:nvSpPr>
          <p:cNvPr id="7" name="TextBox 6">
            <a:extLst>
              <a:ext uri="{FF2B5EF4-FFF2-40B4-BE49-F238E27FC236}">
                <a16:creationId xmlns:a16="http://schemas.microsoft.com/office/drawing/2014/main" id="{E222A9DE-20DB-2E95-20AC-D26C21185039}"/>
              </a:ext>
            </a:extLst>
          </p:cNvPr>
          <p:cNvSpPr txBox="1"/>
          <p:nvPr/>
        </p:nvSpPr>
        <p:spPr>
          <a:xfrm>
            <a:off x="6887292" y="739557"/>
            <a:ext cx="5058136" cy="5444054"/>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Amazon Web Services (AWS) Athena is an interactive query service that allows you to analyze data in Amazon S3 using standard SQL.</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Athena is serverless, meaning there is no infrastructure to manage, and you pay only for the queries you run.</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It is designed to be easy to use, requiring no complex setup or management, and supports a variety of data formats such as CSV, JSON, ORC, Avro, and Parquet. </a:t>
            </a:r>
          </a:p>
          <a:p>
            <a:pPr marL="285750" indent="-285750">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Athena is commonly used for quick, ad-hoc querying and analysis of large datasets stored in S3.</a:t>
            </a:r>
          </a:p>
        </p:txBody>
      </p:sp>
      <p:pic>
        <p:nvPicPr>
          <p:cNvPr id="9" name="Picture 8">
            <a:extLst>
              <a:ext uri="{FF2B5EF4-FFF2-40B4-BE49-F238E27FC236}">
                <a16:creationId xmlns:a16="http://schemas.microsoft.com/office/drawing/2014/main" id="{163ABCC2-DA0D-DFEB-19DC-D098815D7CD1}"/>
              </a:ext>
            </a:extLst>
          </p:cNvPr>
          <p:cNvPicPr>
            <a:picLocks noChangeAspect="1"/>
          </p:cNvPicPr>
          <p:nvPr/>
        </p:nvPicPr>
        <p:blipFill>
          <a:blip r:embed="rId3"/>
          <a:stretch>
            <a:fillRect/>
          </a:stretch>
        </p:blipFill>
        <p:spPr>
          <a:xfrm>
            <a:off x="10433204" y="5804472"/>
            <a:ext cx="1276250" cy="935259"/>
          </a:xfrm>
          <a:prstGeom prst="rect">
            <a:avLst/>
          </a:prstGeom>
        </p:spPr>
      </p:pic>
    </p:spTree>
    <p:extLst>
      <p:ext uri="{BB962C8B-B14F-4D97-AF65-F5344CB8AC3E}">
        <p14:creationId xmlns:p14="http://schemas.microsoft.com/office/powerpoint/2010/main" val="104298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3F92-F082-4CAA-C296-BB02E77F9162}"/>
              </a:ext>
            </a:extLst>
          </p:cNvPr>
          <p:cNvSpPr>
            <a:spLocks noGrp="1"/>
          </p:cNvSpPr>
          <p:nvPr>
            <p:ph type="title"/>
          </p:nvPr>
        </p:nvSpPr>
        <p:spPr>
          <a:xfrm>
            <a:off x="5522570" y="477269"/>
            <a:ext cx="2350625" cy="865394"/>
          </a:xfrm>
        </p:spPr>
        <p:txBody>
          <a:bodyPr>
            <a:normAutofit fontScale="90000"/>
          </a:bodyPr>
          <a:lstStyle/>
          <a:p>
            <a:br>
              <a:rPr lang="en-US" sz="2400" b="1" u="sng" dirty="0">
                <a:effectLst/>
                <a:latin typeface="Times New Roman" panose="02020603050405020304" pitchFamily="18" charset="0"/>
                <a:ea typeface="Times New Roman" panose="02020603050405020304" pitchFamily="18" charset="0"/>
              </a:rPr>
            </a:br>
            <a:r>
              <a:rPr lang="en-US" sz="2400" b="1" u="sng" dirty="0">
                <a:effectLst/>
                <a:latin typeface="Times New Roman" panose="02020603050405020304" pitchFamily="18" charset="0"/>
                <a:ea typeface="Times New Roman" panose="02020603050405020304" pitchFamily="18" charset="0"/>
              </a:rPr>
              <a:t>conclusion</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DE4CCB5-C901-8E18-8C3C-107D2F2F332D}"/>
              </a:ext>
            </a:extLst>
          </p:cNvPr>
          <p:cNvSpPr>
            <a:spLocks noGrp="1"/>
          </p:cNvSpPr>
          <p:nvPr>
            <p:ph idx="1"/>
          </p:nvPr>
        </p:nvSpPr>
        <p:spPr>
          <a:xfrm>
            <a:off x="219919" y="1504710"/>
            <a:ext cx="11690430" cy="4713976"/>
          </a:xfrm>
        </p:spPr>
        <p:txBody>
          <a:bodyPr>
            <a:normAutofit/>
          </a:bodyPr>
          <a:lstStyle/>
          <a:p>
            <a:pPr>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Mass data processing and analysis have become essential in deriving actionable insights from large datasets. AWS Glue and AWS </a:t>
            </a:r>
            <a:r>
              <a:rPr lang="en-US" sz="1800" dirty="0" err="1">
                <a:latin typeface="Times New Roman" panose="02020603050405020304" pitchFamily="18" charset="0"/>
                <a:cs typeface="Times New Roman" panose="02020603050405020304" pitchFamily="18" charset="0"/>
              </a:rPr>
              <a:t>DataBrew</a:t>
            </a:r>
            <a:r>
              <a:rPr lang="en-US" sz="1800" dirty="0">
                <a:latin typeface="Times New Roman" panose="02020603050405020304" pitchFamily="18" charset="0"/>
                <a:cs typeface="Times New Roman" panose="02020603050405020304" pitchFamily="18" charset="0"/>
              </a:rPr>
              <a:t> streamline this process by providing robust tools for data integration, preparation, and transformation. AWS Glue automates the discovery, cataloging, and ETL (Extract, Transform, Load) processes, enabling seamless integration and movement of data across different sources. AWS </a:t>
            </a:r>
            <a:r>
              <a:rPr lang="en-US" sz="1800" dirty="0" err="1">
                <a:latin typeface="Times New Roman" panose="02020603050405020304" pitchFamily="18" charset="0"/>
                <a:cs typeface="Times New Roman" panose="02020603050405020304" pitchFamily="18" charset="0"/>
              </a:rPr>
              <a:t>DataBrew</a:t>
            </a:r>
            <a:r>
              <a:rPr lang="en-US" sz="1800" dirty="0">
                <a:latin typeface="Times New Roman" panose="02020603050405020304" pitchFamily="18" charset="0"/>
                <a:cs typeface="Times New Roman" panose="02020603050405020304" pitchFamily="18" charset="0"/>
              </a:rPr>
              <a:t> offers a visual, code-free interface to clean and normalize data, making it accessible to users without deep technical expertise. </a:t>
            </a:r>
          </a:p>
          <a:p>
            <a:pPr>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Together, these services enhance data accuracy, consistency, and accessibility, facilitating more effective analysis and decision-making. Their scalability and serverless architecture reduce operational overhead and costs, allowing organizations to focus on deriving value from their data. Overall, AWS Glue and </a:t>
            </a:r>
            <a:r>
              <a:rPr lang="en-US" sz="1800" dirty="0" err="1">
                <a:latin typeface="Times New Roman" panose="02020603050405020304" pitchFamily="18" charset="0"/>
                <a:cs typeface="Times New Roman" panose="02020603050405020304" pitchFamily="18" charset="0"/>
              </a:rPr>
              <a:t>DataBrew</a:t>
            </a:r>
            <a:r>
              <a:rPr lang="en-US" sz="1800" dirty="0">
                <a:latin typeface="Times New Roman" panose="02020603050405020304" pitchFamily="18" charset="0"/>
                <a:cs typeface="Times New Roman" panose="02020603050405020304" pitchFamily="18" charset="0"/>
              </a:rPr>
              <a:t> empower businesses to efficiently handle and analyze large volumes of data, driving innovation and competitive advantage.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2032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3FF010-3FFD-9611-5D97-F045AFFE8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676" y="312517"/>
            <a:ext cx="10567686" cy="4328932"/>
          </a:xfrm>
          <a:prstGeom prst="rect">
            <a:avLst/>
          </a:prstGeom>
        </p:spPr>
      </p:pic>
    </p:spTree>
    <p:extLst>
      <p:ext uri="{BB962C8B-B14F-4D97-AF65-F5344CB8AC3E}">
        <p14:creationId xmlns:p14="http://schemas.microsoft.com/office/powerpoint/2010/main" val="61933076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Vapor Trail</Template>
  <TotalTime>231</TotalTime>
  <Words>1134</Words>
  <Application>Microsoft Office PowerPoint</Application>
  <PresentationFormat>Widescreen</PresentationFormat>
  <Paragraphs>51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Century Gothic</vt:lpstr>
      <vt:lpstr>Symbol</vt:lpstr>
      <vt:lpstr>Times New Roman</vt:lpstr>
      <vt:lpstr>Wingdings</vt:lpstr>
      <vt:lpstr>Vapor Trail</vt:lpstr>
      <vt:lpstr>Mass Data Processing And Analysis Using Data Brew And Data Glew</vt:lpstr>
      <vt:lpstr>Abstract </vt:lpstr>
      <vt:lpstr>INTRODUCTION </vt:lpstr>
      <vt:lpstr>PowerPoint Presentation</vt:lpstr>
      <vt:lpstr>PowerPoint Presentation</vt:lpstr>
      <vt:lpstr>PowerPoint Presentation</vt:lpstr>
      <vt:lpstr>PowerPoint Presentation</vt:lpstr>
      <vt:lpstr>PowerPoint Presentation</vt:lpstr>
      <vt:lpstr>Amazon Databrew </vt:lpstr>
      <vt:lpstr>AWS GLUE</vt:lpstr>
      <vt:lpstr>ATHENA </vt:lpstr>
      <vt:lpstr> 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Doredla Bhuvan Kumar</dc:creator>
  <cp:lastModifiedBy>Doredla Bhuvan Kumar</cp:lastModifiedBy>
  <cp:revision>4</cp:revision>
  <dcterms:created xsi:type="dcterms:W3CDTF">2024-07-17T11:29:04Z</dcterms:created>
  <dcterms:modified xsi:type="dcterms:W3CDTF">2026-05-28T11:50:52Z</dcterms:modified>
</cp:coreProperties>
</file>